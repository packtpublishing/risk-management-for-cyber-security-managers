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</p:sldIdLst>
  <p:sldSz cy="8229600" cx="14630400"/>
  <p:notesSz cx="8229600" cy="14630400"/>
  <p:embeddedFontLst>
    <p:embeddedFont>
      <p:font typeface="Int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9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" name="Google Shape;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/>
          <p:nvPr/>
        </p:nvSpPr>
        <p:spPr>
          <a:xfrm>
            <a:off x="793790" y="951548"/>
            <a:ext cx="4820007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Inter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Decision</a:t>
            </a:r>
            <a:endParaRPr b="0" i="0" sz="3750" u="none" cap="none" strike="noStrike"/>
          </a:p>
        </p:txBody>
      </p:sp>
      <p:sp>
        <p:nvSpPr>
          <p:cNvPr id="27" name="Google Shape;27;p6"/>
          <p:cNvSpPr/>
          <p:nvPr/>
        </p:nvSpPr>
        <p:spPr>
          <a:xfrm>
            <a:off x="793790" y="1799749"/>
            <a:ext cx="7556421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1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What are we asking leadership to fund or approve?</a:t>
            </a:r>
            <a:endParaRPr b="0" i="0" sz="1500" u="none" cap="none" strike="noStrike"/>
          </a:p>
        </p:txBody>
      </p:sp>
      <p:sp>
        <p:nvSpPr>
          <p:cNvPr id="28" name="Google Shape;28;p6"/>
          <p:cNvSpPr/>
          <p:nvPr/>
        </p:nvSpPr>
        <p:spPr>
          <a:xfrm>
            <a:off x="793790" y="2269331"/>
            <a:ext cx="7556421" cy="1401247"/>
          </a:xfrm>
          <a:prstGeom prst="roundRect">
            <a:avLst>
              <a:gd fmla="val 7831" name="adj"/>
            </a:avLst>
          </a:prstGeom>
          <a:solidFill>
            <a:srgbClr val="FFFFFF"/>
          </a:solidFill>
          <a:ln cap="flat" cmpd="sng" w="2285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770930" y="2269331"/>
            <a:ext cx="91440" cy="1401247"/>
          </a:xfrm>
          <a:prstGeom prst="roundRect">
            <a:avLst>
              <a:gd fmla="val 8855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1077992" y="2484953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Decision Statement</a:t>
            </a:r>
            <a:endParaRPr b="0" i="0" sz="1850" u="none" cap="none" strike="noStrike"/>
          </a:p>
        </p:txBody>
      </p:sp>
      <p:sp>
        <p:nvSpPr>
          <p:cNvPr id="31" name="Google Shape;31;p6"/>
          <p:cNvSpPr/>
          <p:nvPr/>
        </p:nvSpPr>
        <p:spPr>
          <a:xfrm>
            <a:off x="1077992" y="2884408"/>
            <a:ext cx="705659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"We recommend investing $340K in MFA + credential monitoring to reduce account takeover risk"]</a:t>
            </a:r>
            <a:endParaRPr b="0" i="0" sz="1500" u="none" cap="none" strike="noStrike"/>
          </a:p>
        </p:txBody>
      </p:sp>
      <p:sp>
        <p:nvSpPr>
          <p:cNvPr id="32" name="Google Shape;32;p6"/>
          <p:cNvSpPr/>
          <p:nvPr/>
        </p:nvSpPr>
        <p:spPr>
          <a:xfrm>
            <a:off x="793790" y="3834408"/>
            <a:ext cx="7556421" cy="1401247"/>
          </a:xfrm>
          <a:prstGeom prst="roundRect">
            <a:avLst>
              <a:gd fmla="val 7831" name="adj"/>
            </a:avLst>
          </a:prstGeom>
          <a:solidFill>
            <a:srgbClr val="FFFFFF"/>
          </a:solidFill>
          <a:ln cap="flat" cmpd="sng" w="2285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770930" y="3834408"/>
            <a:ext cx="91440" cy="1401247"/>
          </a:xfrm>
          <a:prstGeom prst="roundRect">
            <a:avLst>
              <a:gd fmla="val 8855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1077992" y="4050030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 Context</a:t>
            </a:r>
            <a:endParaRPr b="0" i="0" sz="1850" u="none" cap="none" strike="noStrike"/>
          </a:p>
        </p:txBody>
      </p:sp>
      <p:sp>
        <p:nvSpPr>
          <p:cNvPr id="35" name="Google Shape;35;p6"/>
          <p:cNvSpPr/>
          <p:nvPr/>
        </p:nvSpPr>
        <p:spPr>
          <a:xfrm>
            <a:off x="1077992" y="4449485"/>
            <a:ext cx="705659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[1–2 sentences on why this decision matters now </a:t>
            </a: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such as</a:t>
            </a: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regulatory deadline, recent incident, insurance renewal, board mandate, etc.]</a:t>
            </a:r>
            <a:endParaRPr b="0" i="0" sz="1500" u="none" cap="none" strike="noStrike"/>
          </a:p>
        </p:txBody>
      </p:sp>
      <p:sp>
        <p:nvSpPr>
          <p:cNvPr id="36" name="Google Shape;36;p6"/>
          <p:cNvSpPr/>
          <p:nvPr/>
        </p:nvSpPr>
        <p:spPr>
          <a:xfrm>
            <a:off x="793790" y="5399484"/>
            <a:ext cx="7556421" cy="1115973"/>
          </a:xfrm>
          <a:prstGeom prst="roundRect">
            <a:avLst>
              <a:gd fmla="val 9832" name="adj"/>
            </a:avLst>
          </a:prstGeom>
          <a:solidFill>
            <a:srgbClr val="FFFFFF"/>
          </a:solidFill>
          <a:ln cap="flat" cmpd="sng" w="2285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770930" y="5399484"/>
            <a:ext cx="91440" cy="1115973"/>
          </a:xfrm>
          <a:prstGeom prst="roundRect">
            <a:avLst>
              <a:gd fmla="val 8855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1077992" y="5615107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Ask</a:t>
            </a:r>
            <a:endParaRPr b="0" i="0" sz="1850" u="none" cap="none" strike="noStrike"/>
          </a:p>
        </p:txBody>
      </p:sp>
      <p:sp>
        <p:nvSpPr>
          <p:cNvPr id="39" name="Google Shape;39;p6"/>
          <p:cNvSpPr/>
          <p:nvPr/>
        </p:nvSpPr>
        <p:spPr>
          <a:xfrm>
            <a:off x="1077992" y="6014561"/>
            <a:ext cx="7056596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[State the specific approval, budget, or action you need from the CFO today]</a:t>
            </a:r>
            <a:endParaRPr b="0" i="0" sz="1500" u="none" cap="none" strike="noStrike"/>
          </a:p>
        </p:txBody>
      </p:sp>
      <p:sp>
        <p:nvSpPr>
          <p:cNvPr id="40" name="Google Shape;40;p6"/>
          <p:cNvSpPr/>
          <p:nvPr/>
        </p:nvSpPr>
        <p:spPr>
          <a:xfrm>
            <a:off x="793790" y="6699766"/>
            <a:ext cx="7556421" cy="578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💡</a:t>
            </a:r>
            <a:r>
              <a:rPr b="0" i="1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Coaching note: Lead with what you want the CFO to DO, not what you found. Executives decide — give them something clear to decide on.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793790" y="104667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Risk in Dollars</a:t>
            </a:r>
            <a:endParaRPr b="0" i="0" sz="4450" u="none" cap="none" strike="noStrike"/>
          </a:p>
        </p:txBody>
      </p:sp>
      <p:sp>
        <p:nvSpPr>
          <p:cNvPr id="47" name="Google Shape;47;p7"/>
          <p:cNvSpPr/>
          <p:nvPr/>
        </p:nvSpPr>
        <p:spPr>
          <a:xfrm>
            <a:off x="793790" y="220908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1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Annualized Loss Expectancy from FAIR analysis</a:t>
            </a:r>
            <a:endParaRPr b="0" i="0" sz="1750" u="none" cap="none" strike="noStrike"/>
          </a:p>
        </p:txBody>
      </p:sp>
      <p:sp>
        <p:nvSpPr>
          <p:cNvPr id="48" name="Google Shape;48;p7"/>
          <p:cNvSpPr/>
          <p:nvPr/>
        </p:nvSpPr>
        <p:spPr>
          <a:xfrm>
            <a:off x="793790" y="3082290"/>
            <a:ext cx="3008948" cy="2493050"/>
          </a:xfrm>
          <a:prstGeom prst="roundRect">
            <a:avLst>
              <a:gd fmla="val 382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1028224" y="3316724"/>
            <a:ext cx="254007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Current ALE Range</a:t>
            </a:r>
            <a:endParaRPr b="0" i="0" sz="2200" u="none" cap="none" strike="noStrike"/>
          </a:p>
        </p:txBody>
      </p:sp>
      <p:sp>
        <p:nvSpPr>
          <p:cNvPr id="50" name="Google Shape;50;p7"/>
          <p:cNvSpPr/>
          <p:nvPr/>
        </p:nvSpPr>
        <p:spPr>
          <a:xfrm>
            <a:off x="1028224" y="4252198"/>
            <a:ext cx="254007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"$1.2M – $4.8M annualized loss expectancy"]</a:t>
            </a:r>
            <a:endParaRPr b="0" i="0" sz="1750" u="none" cap="none" strike="noStrike"/>
          </a:p>
        </p:txBody>
      </p:sp>
      <p:sp>
        <p:nvSpPr>
          <p:cNvPr id="51" name="Google Shape;51;p7"/>
          <p:cNvSpPr/>
          <p:nvPr/>
        </p:nvSpPr>
        <p:spPr>
          <a:xfrm>
            <a:off x="4029551" y="3082290"/>
            <a:ext cx="3008948" cy="2493050"/>
          </a:xfrm>
          <a:prstGeom prst="roundRect">
            <a:avLst>
              <a:gd fmla="val 382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4263985" y="3316724"/>
            <a:ext cx="254007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90th Percentile Exposure</a:t>
            </a:r>
            <a:endParaRPr b="0" i="0" sz="2200" u="none" cap="none" strike="noStrike"/>
          </a:p>
        </p:txBody>
      </p:sp>
      <p:sp>
        <p:nvSpPr>
          <p:cNvPr id="53" name="Google Shape;53;p7"/>
          <p:cNvSpPr/>
          <p:nvPr/>
        </p:nvSpPr>
        <p:spPr>
          <a:xfrm>
            <a:off x="4263985" y="4252198"/>
            <a:ext cx="254007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"10% chance annual losses exceed $4.8M"]</a:t>
            </a:r>
            <a:endParaRPr b="0" i="0" sz="1750" u="none" cap="none" strike="noStrike"/>
          </a:p>
        </p:txBody>
      </p:sp>
      <p:sp>
        <p:nvSpPr>
          <p:cNvPr id="54" name="Google Shape;54;p7"/>
          <p:cNvSpPr/>
          <p:nvPr/>
        </p:nvSpPr>
        <p:spPr>
          <a:xfrm>
            <a:off x="7599521" y="3082290"/>
            <a:ext cx="3008948" cy="2864525"/>
          </a:xfrm>
          <a:prstGeom prst="roundRect">
            <a:avLst>
              <a:gd fmla="val 3326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7833955" y="3316724"/>
            <a:ext cx="254007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Proposed ALE Range</a:t>
            </a:r>
            <a:endParaRPr b="0" i="0" sz="2200" u="none" cap="none" strike="noStrike"/>
          </a:p>
        </p:txBody>
      </p:sp>
      <p:sp>
        <p:nvSpPr>
          <p:cNvPr id="56" name="Google Shape;56;p7"/>
          <p:cNvSpPr/>
          <p:nvPr/>
        </p:nvSpPr>
        <p:spPr>
          <a:xfrm>
            <a:off x="7833955" y="4252198"/>
            <a:ext cx="254007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"With recommended controls: ALE drops to $280K – $1.1M"]</a:t>
            </a:r>
            <a:endParaRPr b="0" i="0" sz="1750" u="none" cap="none" strike="noStrike"/>
          </a:p>
        </p:txBody>
      </p:sp>
      <p:sp>
        <p:nvSpPr>
          <p:cNvPr id="57" name="Google Shape;57;p7"/>
          <p:cNvSpPr/>
          <p:nvPr/>
        </p:nvSpPr>
        <p:spPr>
          <a:xfrm>
            <a:off x="10835283" y="3082290"/>
            <a:ext cx="3008948" cy="2864525"/>
          </a:xfrm>
          <a:prstGeom prst="roundRect">
            <a:avLst>
              <a:gd fmla="val 3326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11069717" y="3316724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ROI Framing</a:t>
            </a:r>
            <a:endParaRPr b="0" i="0" sz="2200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11069717" y="3897868"/>
            <a:ext cx="254007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"$340K investment against $920K – $3.7M in expected loss reduction"]</a:t>
            </a:r>
            <a:endParaRPr b="0" i="0" sz="1750" u="none" cap="none" strike="noStrike"/>
          </a:p>
        </p:txBody>
      </p:sp>
      <p:sp>
        <p:nvSpPr>
          <p:cNvPr id="60" name="Google Shape;60;p7"/>
          <p:cNvSpPr/>
          <p:nvPr/>
        </p:nvSpPr>
        <p:spPr>
          <a:xfrm>
            <a:off x="793790" y="645711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💡</a:t>
            </a:r>
            <a:r>
              <a:rPr b="0" i="1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Coaching note: Show the range, not a single number </a:t>
            </a:r>
            <a:r>
              <a:rPr i="1"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because </a:t>
            </a:r>
            <a:r>
              <a:rPr b="0" i="1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ranges build credibility. Always include the 90th percentile. That's what keeps CFOs up at night.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793790" y="850225"/>
            <a:ext cx="872085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Assumptions &amp; Confidence</a:t>
            </a:r>
            <a:endParaRPr b="0" i="0" sz="4450" u="none" cap="none" strike="noStrike"/>
          </a:p>
        </p:txBody>
      </p:sp>
      <p:sp>
        <p:nvSpPr>
          <p:cNvPr id="67" name="Google Shape;67;p8"/>
          <p:cNvSpPr/>
          <p:nvPr/>
        </p:nvSpPr>
        <p:spPr>
          <a:xfrm>
            <a:off x="793790" y="201263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1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Transparency on what drives the estimate</a:t>
            </a:r>
            <a:endParaRPr b="0" i="0" sz="1750" u="none" cap="none" strike="noStrike"/>
          </a:p>
        </p:txBody>
      </p:sp>
      <p:sp>
        <p:nvSpPr>
          <p:cNvPr id="68" name="Google Shape;68;p8"/>
          <p:cNvSpPr/>
          <p:nvPr/>
        </p:nvSpPr>
        <p:spPr>
          <a:xfrm>
            <a:off x="793790" y="263068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878860" y="267319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50" u="none" cap="none" strike="noStrike"/>
          </a:p>
        </p:txBody>
      </p:sp>
      <p:sp>
        <p:nvSpPr>
          <p:cNvPr id="70" name="Google Shape;70;p8"/>
          <p:cNvSpPr/>
          <p:nvPr/>
        </p:nvSpPr>
        <p:spPr>
          <a:xfrm>
            <a:off x="1530906" y="2708553"/>
            <a:ext cx="330458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Threat Event Frequency</a:t>
            </a:r>
            <a:endParaRPr b="0" i="0" sz="2200" u="none" cap="none" strike="noStrike"/>
          </a:p>
        </p:txBody>
      </p:sp>
      <p:sp>
        <p:nvSpPr>
          <p:cNvPr id="71" name="Google Shape;71;p8"/>
          <p:cNvSpPr/>
          <p:nvPr/>
        </p:nvSpPr>
        <p:spPr>
          <a:xfrm>
            <a:off x="1530906" y="3198971"/>
            <a:ext cx="56424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"Based on Verizon DBIR credential-stuffing rates for SaaS sector (2024)"]</a:t>
            </a:r>
            <a:endParaRPr b="0" i="0" sz="1750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7456884" y="263068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7541955" y="267319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50" u="none" cap="none" strike="noStrike"/>
          </a:p>
        </p:txBody>
      </p:sp>
      <p:sp>
        <p:nvSpPr>
          <p:cNvPr id="74" name="Google Shape;74;p8"/>
          <p:cNvSpPr/>
          <p:nvPr/>
        </p:nvSpPr>
        <p:spPr>
          <a:xfrm>
            <a:off x="8194000" y="2708553"/>
            <a:ext cx="377892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Secondary Loss Magnitude</a:t>
            </a:r>
            <a:endParaRPr b="0" i="0" sz="2200" u="none" cap="none" strike="noStrike"/>
          </a:p>
        </p:txBody>
      </p:sp>
      <p:sp>
        <p:nvSpPr>
          <p:cNvPr id="75" name="Google Shape;75;p8"/>
          <p:cNvSpPr/>
          <p:nvPr/>
        </p:nvSpPr>
        <p:spPr>
          <a:xfrm>
            <a:off x="8194000" y="3198971"/>
            <a:ext cx="56426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"Regulatory fines estimated from GDPR enforcement tracker — mid-range for companies of our size"]</a:t>
            </a:r>
            <a:endParaRPr b="0" i="0" sz="1750" u="none" cap="none" strike="noStrike"/>
          </a:p>
        </p:txBody>
      </p:sp>
      <p:sp>
        <p:nvSpPr>
          <p:cNvPr id="76" name="Google Shape;76;p8"/>
          <p:cNvSpPr/>
          <p:nvPr/>
        </p:nvSpPr>
        <p:spPr>
          <a:xfrm>
            <a:off x="793790" y="474130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878860" y="478381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50" u="none" cap="none" strike="noStrike"/>
          </a:p>
        </p:txBody>
      </p:sp>
      <p:sp>
        <p:nvSpPr>
          <p:cNvPr id="78" name="Google Shape;78;p8"/>
          <p:cNvSpPr/>
          <p:nvPr/>
        </p:nvSpPr>
        <p:spPr>
          <a:xfrm>
            <a:off x="1530906" y="48191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Quality Note</a:t>
            </a:r>
            <a:endParaRPr b="0" i="0" sz="2200" u="none" cap="none" strike="noStrike"/>
          </a:p>
        </p:txBody>
      </p:sp>
      <p:sp>
        <p:nvSpPr>
          <p:cNvPr id="79" name="Google Shape;79;p8"/>
          <p:cNvSpPr/>
          <p:nvPr/>
        </p:nvSpPr>
        <p:spPr>
          <a:xfrm>
            <a:off x="1530906" y="5309592"/>
            <a:ext cx="564249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"Inputs calibrated via SME interviews + industry benchmarks; no internal incident history available for this threat"]</a:t>
            </a:r>
            <a:endParaRPr b="0" i="0" sz="1750" u="none" cap="none" strike="noStrike"/>
          </a:p>
        </p:txBody>
      </p:sp>
      <p:sp>
        <p:nvSpPr>
          <p:cNvPr id="80" name="Google Shape;80;p8"/>
          <p:cNvSpPr/>
          <p:nvPr/>
        </p:nvSpPr>
        <p:spPr>
          <a:xfrm>
            <a:off x="7456884" y="474130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7541955" y="478381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650" u="none" cap="none" strike="noStrike"/>
          </a:p>
        </p:txBody>
      </p:sp>
      <p:sp>
        <p:nvSpPr>
          <p:cNvPr id="82" name="Google Shape;82;p8"/>
          <p:cNvSpPr/>
          <p:nvPr/>
        </p:nvSpPr>
        <p:spPr>
          <a:xfrm>
            <a:off x="8194000" y="4819174"/>
            <a:ext cx="448508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What Would Change the Answer</a:t>
            </a:r>
            <a:endParaRPr b="0" i="0" sz="2200" u="none" cap="none" strike="noStrike"/>
          </a:p>
        </p:txBody>
      </p:sp>
      <p:sp>
        <p:nvSpPr>
          <p:cNvPr id="83" name="Google Shape;83;p8"/>
          <p:cNvSpPr/>
          <p:nvPr/>
        </p:nvSpPr>
        <p:spPr>
          <a:xfrm>
            <a:off x="8194000" y="5309592"/>
            <a:ext cx="56426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[e.g., "If breach notification costs exceed $180/record vs. our $155 estimate, the 90th percentile crosses $6M"]</a:t>
            </a:r>
            <a:endParaRPr b="0" i="0" sz="1750" u="none" cap="none" strike="noStrike"/>
          </a:p>
        </p:txBody>
      </p:sp>
      <p:sp>
        <p:nvSpPr>
          <p:cNvPr id="84" name="Google Shape;84;p8"/>
          <p:cNvSpPr/>
          <p:nvPr/>
        </p:nvSpPr>
        <p:spPr>
          <a:xfrm>
            <a:off x="793790" y="6653451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💡</a:t>
            </a:r>
            <a:r>
              <a:rPr b="0" i="1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Coaching note: Showing your assumptions isn't weakness</a:t>
            </a:r>
            <a:r>
              <a:rPr i="1"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rather</a:t>
            </a:r>
            <a:r>
              <a:rPr b="0" i="1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it's what separates rigorous analysis from guesswork. CFOs trust ranges they can interrogate.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